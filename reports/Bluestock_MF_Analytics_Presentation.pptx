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2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Continuity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5FA3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B3A6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B3A6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SIP Active at 12M</c:v>
                </c:pt>
                <c:pt idx="1">
                  <c:v>Dropped Out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68</c:v>
                </c:pt>
                <c:pt idx="1">
                  <c:v>32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7F9FD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is the capstone project for the Mutual Fund Analytics Platform, completed in 7 days as part of my internship with Bluestock Fintech. The project covers the full analytics lifecycle — from raw data ingestion through to advanced risk modeling and a Power BI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'so what' slide. The project is a blueprint for Bluestock's analytics product. Every technical deliverable — ETL pipeline, SQLite database, dashboard — maps to an investor-facing use case. Emphasize the business-first approach: we built this to democratize institutional-grade fund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market context first. India's MF industry is at an inflection point — growing fast but serving a narrow, urban base. Bluestock has an opportunity to democratize fund intelligence the way Zerodha democratized trading. Pause after listing the three problems to let the gaps sink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architecture layer by layer. Emphasize that the pipeline is modular — SQLite can be replaced with PostgreSQL for production, Power BI with Tableau, without touching the analytics layer. The requirements.txt ensures full reproducibility — any team member can clone and run in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quality is the foundation of analytics credibility. The pipeline is idempotent — it can be re-run safely using if_exists='replace' in to_sql(). Zero data quality issues were found across all 10 files, which speaks to the careful dataset curation done on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is where the data tells its story. The SIP 5x growth is the defining trend — India is becoming a SIP nation. The high NAV correlation finding (0.55–0.82) has direct product implications: Bluestock should steer investors toward cross-category diversification rather than multiple funds in the same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Sharpe Ratio, not absolute return, is the gold standard for fund comparison. A fund earning 18% with high volatility may be inferior to one earning 15% with low volatility. Highlight that Alpha generation is rare — most active large-cap funds barely outperform their benchmark after fees, which argues for ETFs or Flexi-cap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possible, live-demo the Power BI dashboard. The cross-filter capability is the key differentiator: clicking on a state in the investor map instantly updates transaction trends and age distribution charts. The file bluestock_mf_dashboard.pbix can be opened in Power BI Desktop. Note that all 4 pages were built using the same SQLite database as the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 and CVaR are tools used by Goldman Sachs, JPMorgan, and every major asset manager. By bringing this analysis to retail investors, Bluestock operates at a higher analytical tier than most retail platforms. The rolling Sharpe chart is particularly powerful: funds that maintain high Sharpe ratios across bull AND bear markets demonstrate superior management quality — not just lucky timing.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recommender and cohort findings are the most product-relevant. The recommender shows data-driven fund selection is feasible and can be automated — this is the engine behind a robo-advisory feature. The SIP cohort finding (68% continuation, peak dropout at months 9–11) is a direct call-to-action: deploy behavioral nudges at the 8-month mark for every active SIP investor.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most actionable recommendations: SIP churn prevention (Rec 3) and risk profiling (Rec 1) can be implemented within 30 days with existing infrastructure. The Tier-2 expansion (Rec 4) is a 6–12 month strategic initiative. Frame P1 recommendations as quick wins and P2 as strategic investments.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energy. This project is not the end — it's the start of Bluestock's analytics journey. The infrastructure is built, the insights are validated, and the roadmap is clear. Invite questions. Emphasize the breadth of skills demonstrated: data engineering, financial analytics, BI development, and risk modeling — all in 7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54864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9202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spc="400" kern="0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4320" y="4480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· June 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663440" y="100584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Platform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663440" y="2926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A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Data Analytics Solution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63440" y="35661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663440" y="3611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663440" y="40965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79008" y="35661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779008" y="3611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779008" y="40965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894576" y="35661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894576" y="3611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894576" y="40965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010144" y="35661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010144" y="3611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010144" y="40965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63440" y="4663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Sandesh  ·  Capstone Project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2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82880" y="9144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68680" y="1051560"/>
            <a:ext cx="685800" cy="6858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17043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" y="18745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74320" y="228600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investors lack institutional-grade mutual fund analytics — VaR, Alpha, rolling Sharpe are unavailable on most platforms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377440" y="9144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3063240" y="1051560"/>
            <a:ext cx="685800" cy="6858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117043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377440" y="18745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468880" y="228600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Python analytics pipeline: ETL → SQLite DB → EDA → Performance Metrics → Power BI Dashboard → Advanced Risk Models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0" y="9144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5257800" y="1051560"/>
            <a:ext cx="685800" cy="6858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17043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0" y="18745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663440" y="228600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datasets · 40+ funds · 7-day sprint · Python + Pandas + SQLAlchemy + Power BI + GitHub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766560" y="9144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7452360" y="1051560"/>
            <a:ext cx="685800" cy="6858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170432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66560" y="18745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858000" y="228600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key findings · 10 strategic recommendations · Production-ready analytics foundation for Bluestock Fintech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0" y="4297680"/>
            <a:ext cx="9144000" cy="73152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p/>
        </p:txBody>
      </p:sp>
      <p:sp>
        <p:nvSpPr>
          <p:cNvPr id="27" name="Text 20"/>
          <p:cNvSpPr/>
          <p:nvPr/>
        </p:nvSpPr>
        <p:spPr>
          <a:xfrm>
            <a:off x="91440" y="4297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Datasets Ingested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920240" y="4297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Performance Metrics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3749040" y="4297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Funds Risk-Scored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577840" y="4297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 Power BI Dashboard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7406640" y="4297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Fund Recommender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3 / 12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 &amp; Opportunity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₹50 lakh crore MF industry is growing fast — but analytics are locked behind institutional walls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46304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1D3461"/>
          </a:solidFill>
          <a:ln w="12700">
            <a:solidFill>
              <a:srgbClr val="2A4A7F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68680" y="1572768"/>
            <a:ext cx="411480" cy="411480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572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" y="20574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Fragmentation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4688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data scattered across AMFI, NSE, BSE and AMC portals — no consolidated view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17520" y="146304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1D3461"/>
          </a:solidFill>
          <a:ln w="12700">
            <a:solidFill>
              <a:srgbClr val="2A4A7F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611880" y="1572768"/>
            <a:ext cx="411480" cy="411480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611880" y="1572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063240" y="20574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Complexity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063240" y="24688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Alpha, Beta, Sharpe, VaR require expertise &amp; computing power unavailable to retail investors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146304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1D3461"/>
          </a:solidFill>
          <a:ln w="12700">
            <a:solidFill>
              <a:srgbClr val="2A4A7F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355080" y="1572768"/>
            <a:ext cx="411480" cy="411480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355080" y="1572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806440" y="20574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Intelligence Gap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06440" y="24688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trend data is rarely linked to market performance — behavioral patterns go undetected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549640" y="1463040"/>
            <a:ext cx="365760" cy="1920240"/>
          </a:xfrm>
          <a:prstGeom prst="round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274320" y="3520440"/>
            <a:ext cx="8595360" cy="1371600"/>
          </a:xfrm>
          <a:prstGeom prst="roundRect">
            <a:avLst>
              <a:gd name="adj" fmla="val 8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30168"/>
            <a:ext cx="594360" cy="5943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234440" y="35661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234440" y="395935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can bridge this gap — democratizing institutional-grade mutual fund intelligence for India's next 100 million retail investors with an analytics-first platform.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0" y="3566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₹50L Cr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548640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AUM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675120" y="3566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Cr+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667512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Accounts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863840" y="3566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786384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4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Architecture &amp; Technology Stack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08660" y="987552"/>
            <a:ext cx="685800" cy="685800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1556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Ingest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47472" y="2176272"/>
            <a:ext cx="14081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Requests · MFAPI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CSVs + Live API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1828800" y="2514600"/>
            <a:ext cx="182880" cy="7315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2011680" y="86868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2446020" y="987552"/>
            <a:ext cx="685800" cy="685800"/>
          </a:xfrm>
          <a:prstGeom prst="ellipse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11556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Transform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084832" y="2176272"/>
            <a:ext cx="14081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· NumPy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· Deduplicate · Type-cast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566160" y="2514600"/>
            <a:ext cx="182880" cy="7315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3749040" y="86868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4183380" y="987552"/>
            <a:ext cx="685800" cy="685800"/>
          </a:xfrm>
          <a:prstGeom prst="ellipse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11556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4904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Store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822192" y="2176272"/>
            <a:ext cx="14081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· SQLAlchemy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bluestock_mf.db · 10 Tables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303520" y="2514600"/>
            <a:ext cx="182880" cy="7315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5486400" y="86868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5920740" y="987552"/>
            <a:ext cx="685800" cy="68580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115568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Analyze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559552" y="2176272"/>
            <a:ext cx="14081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· SciPy · Plotly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Metrics · VaR · CVaR · Sharpe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7040880" y="2514600"/>
            <a:ext cx="182880" cy="7315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7223760" y="86868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7658100" y="987552"/>
            <a:ext cx="685800" cy="6858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115568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2376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Visualize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7296912" y="2176272"/>
            <a:ext cx="14081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 Interactive Dashboard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274320" y="448056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</p:spPr>
        <p:txBody>
          <a:bodyPr/>
          <a:p/>
        </p:txBody>
      </p:sp>
      <p:sp>
        <p:nvSpPr>
          <p:cNvPr id="36" name="Text 28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DevOps: GitHub for version control  ·  requirements.txt for full reproducibility  ·  Modular pipeline — each layer independently replaceable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5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ETL Pipeline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896112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29768" y="896112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01_fund_master.csv — Fund name, category, AMC, AMFI code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" y="146304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EF3FB"/>
          </a:solidFill>
          <a:ln w="12700">
            <a:solidFill>
              <a:srgbClr val="DDE6F5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29768" y="146304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02_nav_history.csv — Daily NAV per fund (50,000+ rows)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2029968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29768" y="20299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03_aum_by_fund_house.csv — Monthly AUM by AMC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2596896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EF3FB"/>
          </a:solidFill>
          <a:ln w="12700">
            <a:solidFill>
              <a:srgbClr val="DDE6F5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29768" y="2596896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04_monthly_sip_inflows.csv — National SIP inflow time series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3163824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29768" y="3163824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05_category_inflows.csv — Net inflows by fund category &amp; month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896112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EF3FB"/>
          </a:solidFill>
          <a:ln w="12700">
            <a:solidFill>
              <a:srgbClr val="DDE6F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864608" y="896112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06_industry_folio_count.csv — Total &amp; new folios per month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54880" y="146304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864608" y="146304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07_scheme_performance.csv — 1Y / 3Y / 5Y returns per fund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54880" y="2029968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EF3FB"/>
          </a:solidFill>
          <a:ln w="12700">
            <a:solidFill>
              <a:srgbClr val="DDE6F5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64608" y="20299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08_investor_transactions.csv — Transaction-level investor data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754880" y="2596896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864608" y="2596896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09_portfolio_holdings.csv — Sector &amp; stock allocation per fund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54880" y="3163824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EF3FB"/>
          </a:solidFill>
          <a:ln w="12700">
            <a:solidFill>
              <a:srgbClr val="DDE6F5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864608" y="3163824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10_benchmark_indices.csv — Nifty 50, Midcap 150, Small Cap 250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74320" y="3858768"/>
            <a:ext cx="8595360" cy="1078992"/>
          </a:xfrm>
          <a:prstGeom prst="roundRect">
            <a:avLst>
              <a:gd name="adj" fmla="val 847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57200" y="3931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427939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CSVs + 5 live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calls (MFAPI)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651760" y="3931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651760" y="427939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 · Strip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· Type-cast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846320" y="3931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46320" y="427939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tables → SQLite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bluestock_mf.db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040880" y="3931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040880" y="427939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errors detected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datasets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6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— Key Findings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52120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1" descr="/home/claude/nav_comparis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" y="914400"/>
            <a:ext cx="5120640" cy="2560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4747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1: Mutual Fund NAV Comparison 2013–2026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623560" y="86868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5687568" y="1033272"/>
            <a:ext cx="548640" cy="5486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112471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09360" y="9326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Growth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309360" y="12801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119092 NAV exceeds ₹6,000 — 5x average peer growth, reflecting exceptional long-run compounding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23560" y="1892808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5687568" y="2057400"/>
            <a:ext cx="548640" cy="5486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21488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19568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Boom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309360" y="230428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inflows 5× in a decade (₹4K→₹20K Cr/month). Resilient through 2020 and 2022 market shocks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623560" y="2916936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5687568" y="3081528"/>
            <a:ext cx="548640" cy="5486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08" y="3172968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09360" y="29809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309360" y="332841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25–40 = 52% of investors. Maharashtra, Karnataka, Delhi = 50% of transaction value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5623560" y="3941064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18"/>
          <p:cNvSpPr/>
          <p:nvPr/>
        </p:nvSpPr>
        <p:spPr>
          <a:xfrm>
            <a:off x="5687568" y="4105656"/>
            <a:ext cx="548640" cy="5486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08" y="4197096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09360" y="4005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309360" y="435254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correlations 0.55–0.82 among equity funds — multi-fund same-category portfolios don't diversify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274320" y="4041648"/>
            <a:ext cx="8595360" cy="886968"/>
          </a:xfrm>
          <a:prstGeom prst="roundRect">
            <a:avLst>
              <a:gd name="adj" fmla="val 8247"/>
            </a:avLst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</p:spPr>
        <p:txBody>
          <a:bodyPr/>
          <a:p/>
        </p:txBody>
      </p:sp>
      <p:sp>
        <p:nvSpPr>
          <p:cNvPr id="30" name="Text 22"/>
          <p:cNvSpPr/>
          <p:nvPr/>
        </p:nvSpPr>
        <p:spPr>
          <a:xfrm>
            <a:off x="457200" y="4041648"/>
            <a:ext cx="82296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concentrated: Top 5 AMCs = 55% of total AUM (SBI, HDFC, ICICI Pru, Aditya Birla, Kotak) · Industry AUM CAGR ~15% over 5 years · Sector concentration: Financial Services = 28–35% of avg equity fund portfolio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7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Performance Analytics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320040" y="8686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Daily Returns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86868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246120" y="8686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CAGR 1Y/3Y/5Y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86868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172200" y="8686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Sharpe Ratio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1527048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20040" y="152704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Sortino Ratio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1527048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246120" y="152704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Alpha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1527048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6B4E71"/>
          </a:solidFill>
          <a:ln w="12700">
            <a:solidFill>
              <a:srgbClr val="6B4E71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72200" y="152704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Beta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2185416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B25068"/>
          </a:solidFill>
          <a:ln w="12700">
            <a:solidFill>
              <a:srgbClr val="B2506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320040" y="218541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Max Drawdown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0" y="2185416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246120" y="218541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Fund Scorecard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26480" y="2185416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172200" y="218541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Benchmark vs Actual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74320" y="29443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Funds by Risk-Adjusted Performance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10128"/>
          <a:ext cx="8595360" cy="1600200"/>
        </p:xfrm>
        <a:graphic>
          <a:graphicData uri="http://schemas.openxmlformats.org/drawingml/2006/table">
            <a:tbl>
              <a:tblPr/>
              <a:tblGrid>
                <a:gridCol w="2560320"/>
                <a:gridCol w="1920240"/>
                <a:gridCol w="914400"/>
                <a:gridCol w="1005840"/>
                <a:gridCol w="1097280"/>
                <a:gridCol w="109728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Fund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Fund House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3Y Return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AUM (₹ Cr)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HDFC Top 100 Fund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HDFC MF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7A3C"/>
                          </a:solidFill>
                        </a:rPr>
                        <a:t>1.06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14.84%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6,434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Moderate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Mirae Asset Large Cap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Mirae Asset MF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7A3C"/>
                          </a:solidFill>
                        </a:rPr>
                        <a:t>1.06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14.81%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11,361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Moderate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ICICI Pru Bluechip Fund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ICICI Prudential MF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7A3C"/>
                          </a:solidFill>
                        </a:rPr>
                        <a:t>1.03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14.41%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41,553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Moderate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8 / 12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4 Pages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analytics for industry leaders and fund analysts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28600" y="123444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1D3461"/>
          </a:solidFill>
          <a:ln w="12700">
            <a:solidFill>
              <a:srgbClr val="2A4A7F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28600" y="1234440"/>
            <a:ext cx="2057400" cy="475488"/>
          </a:xfrm>
          <a:prstGeom prst="roundRect">
            <a:avLst>
              <a:gd name="adj" fmla="val 2307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28600" y="123444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8600" y="17647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Overview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21284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AUM KPI card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" y="268833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Inflows sparkline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" y="316382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Trend (2018–2026)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" y="363931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by AMC bar chart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23160" y="123444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1D3461"/>
          </a:solidFill>
          <a:ln w="12700">
            <a:solidFill>
              <a:srgbClr val="2A4A7F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2423160" y="1234440"/>
            <a:ext cx="2057400" cy="475488"/>
          </a:xfrm>
          <a:prstGeom prst="roundRect">
            <a:avLst>
              <a:gd name="adj" fmla="val 23077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23160" y="123444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423160" y="17647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Performance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14600" y="221284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vs Risk scatter plot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14600" y="268833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scorecard table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514600" y="316382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trend comparison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514600" y="363931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/ Drawdown view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17720" y="123444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1D3461"/>
          </a:solidFill>
          <a:ln w="12700">
            <a:solidFill>
              <a:srgbClr val="2A4A7F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617720" y="1234440"/>
            <a:ext cx="2057400" cy="475488"/>
          </a:xfrm>
          <a:prstGeom prst="roundRect">
            <a:avLst>
              <a:gd name="adj" fmla="val 23077"/>
            </a:avLst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617720" y="123444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617720" y="17647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Analytics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09160" y="221284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State-wise choropleth map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09160" y="268833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 donut chart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09160" y="316382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vs Lumpsum split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709160" y="363931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transaction trend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812280" y="123444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1D3461"/>
          </a:solidFill>
          <a:ln w="12700">
            <a:solidFill>
              <a:srgbClr val="2A4A7F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6812280" y="1234440"/>
            <a:ext cx="2057400" cy="475488"/>
          </a:xfrm>
          <a:prstGeom prst="roundRect">
            <a:avLst>
              <a:gd name="adj" fmla="val 23077"/>
            </a:avLst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812280" y="123444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812280" y="17647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&amp; Market Trends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903720" y="221284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vs Nifty dual-axis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903720" y="268833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inflow heatmap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903720" y="316382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categories ranking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903720" y="363931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 cross-filter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28600" y="4800600"/>
            <a:ext cx="8686800" cy="228600"/>
          </a:xfrm>
          <a:prstGeom prst="roundRect">
            <a:avLst>
              <a:gd name="adj" fmla="val 24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32004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pages feature cross-filter slicers: Date Range · Fund Category · AMC · Risk Grade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9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 — Risk Modeling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841248"/>
            <a:ext cx="502920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1" descr="/home/claude/rolling_sharp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" y="886968"/>
            <a:ext cx="493776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4015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2: Rolling 90-Day Sharpe Ratio (2022–2026)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440680" y="841248"/>
            <a:ext cx="34290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5532120" y="978408"/>
            <a:ext cx="530352" cy="530352"/>
          </a:xfrm>
          <a:prstGeom prst="ellipse">
            <a:avLst/>
          </a:prstGeom>
          <a:solidFill>
            <a:srgbClr val="B25068"/>
          </a:solidFill>
          <a:ln w="12700">
            <a:solidFill>
              <a:srgbClr val="B25068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144768" y="8869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Tail Risk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144768" y="11521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101207 · VaR: -2.60% · CVaR: -3.25%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144768" y="13898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2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Only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440680" y="1755648"/>
            <a:ext cx="34290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532120" y="1892808"/>
            <a:ext cx="530352" cy="530352"/>
          </a:xfrm>
          <a:prstGeom prst="ellipse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6144768" y="18013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Risk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144768" y="20665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100025 · VaR: -0.38% · CVaR: -0.50%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144768" y="23042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Preservation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440680" y="2670048"/>
            <a:ext cx="34290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5532120" y="2807208"/>
            <a:ext cx="530352" cy="53035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144768" y="2715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Sharpe Peak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144768" y="29809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101206 · Sharpe &gt;7.0 · Early 2026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144768" y="32186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Exceptional Period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440680" y="3584448"/>
            <a:ext cx="34290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5532120" y="3721608"/>
            <a:ext cx="530352" cy="5303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6144768" y="3630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Analyzed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144768" y="38953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AMFI codes · VaR computed · at 95% CI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6144768" y="41330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returns basis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274320" y="3950208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457200" y="395020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(Value at Risk) = Maximum expected daily loss exceeded only 5% of trading days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CVaR (Expected Shortfall) = Average loss in the worst 5% of days — the 'pessimist's metric' for tail risk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use: Fund suitability filter in Bluestock's investor portal — high CVaR funds excluded for risk-averse profiles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10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Recommender · Investor Cohort · HHI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8229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Recommender — Top 3 Picks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188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Moderate Risk · Sharpe &gt; 1.0 · 3Y Return &gt; 14%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1536192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74320" y="1536192"/>
            <a:ext cx="347472" cy="749808"/>
          </a:xfrm>
          <a:prstGeom prst="roundRect">
            <a:avLst>
              <a:gd name="adj" fmla="val 21053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74320" y="1536192"/>
            <a:ext cx="347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5727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Top 100 Fund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" y="1901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MF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00400" y="181051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1.06  ·  14.84% 3Y  ·  AUM ₹6,434 Cr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4320" y="2359152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274320" y="2359152"/>
            <a:ext cx="347472" cy="749808"/>
          </a:xfrm>
          <a:prstGeom prst="roundRect">
            <a:avLst>
              <a:gd name="adj" fmla="val 21053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74320" y="2359152"/>
            <a:ext cx="347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3232" y="2395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 Large Cap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3232" y="27249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 MF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00400" y="263347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1.06  ·  14.81% 3Y  ·  AUM ₹11,361 Cr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3182112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274320" y="3182112"/>
            <a:ext cx="347472" cy="749808"/>
          </a:xfrm>
          <a:prstGeom prst="roundRect">
            <a:avLst>
              <a:gd name="adj" fmla="val 21053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274320" y="3182112"/>
            <a:ext cx="347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13232" y="32186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 Bluechip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3232" y="3547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Prudential MF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00400" y="345643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1.03  ·  14.41% 3Y  ·  AUM ₹41,553 Cr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669280" y="822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Investor Cohort Analysis</a:t>
            </a:r>
            <a:endParaRPr lang="en-US" sz="14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623560" y="1207008"/>
          <a:ext cx="32918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5623560" y="356616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669280" y="3566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dropout: months 9–11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nudge campaign at month 8!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274320" y="4206240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457200" y="420624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HHI Concentration: Top 5 AMCs hold ~55% of AUM (Moderate concentration, HHI 1,500–2,500 range) · Recommender pipeline can be operationalized as a weekly automated job refreshing recommendations from latest NAV &amp; performance data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11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Key Findings &amp; 10 Strategic Recommendations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Findings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234440"/>
            <a:ext cx="256032" cy="25603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1234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16152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inflows grew 5× in a decade — India is becoming a SIP nation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1719072"/>
            <a:ext cx="256032" cy="25603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74320" y="1719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1792" y="1700784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AMCs = 55% AUM — moderate concentration risk (HHI)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2203704"/>
            <a:ext cx="256032" cy="25603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74320" y="2203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1792" y="2185416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correlations 0.55–0.82 — same-category funds don't diversify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2688336"/>
            <a:ext cx="256032" cy="25603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274320" y="26883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1792" y="2670048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101207 CVaR -3.25% — highest tail risk in dataset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3172968"/>
            <a:ext cx="256032" cy="25603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274320" y="3172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" y="3154680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continuation 68% at 12M — 32% churn is addressable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3657600"/>
            <a:ext cx="256032" cy="25603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74320" y="3657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1792" y="3639312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25–40 = 52% of investors — digital-native cohort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4142232"/>
            <a:ext cx="256032" cy="25603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274320" y="4142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21792" y="4123944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 = 28–35% avg sector weight — systemic risk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663440" y="8229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Recommendations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663440" y="1207008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EE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709160" y="12527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193792" y="12527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Profiling Engine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193792" y="15270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VaR/CVaR fund suitability filters in onboarding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663440" y="1865376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EE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4709160" y="191109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193792" y="19110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Fund Comparator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193792" y="218541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Sharpe, Alpha, Rolling Sharpe on one screen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663440" y="2523744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EE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4709160" y="256946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193792" y="256946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Churn Prevention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193792" y="28437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nudges at month 8 for SIP investors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663440" y="3182112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8EE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4709160" y="322783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193792" y="322783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Tier-2/3 City Expansion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193792" y="35021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content for UP, MP, Rajasthan, Bihar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663440" y="384048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8EE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4709160" y="38862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193792" y="38862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Concentration Alert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193792" y="416052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&gt;40% single-sector exposure in portfolios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4663440" y="4526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 more recommendations: Automate recommender pipeline · ML fund prediction · Real-time NAV alerts · Robo-advisory · Mobile app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12 / 12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Roadmap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D3461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9144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"Data is the new capital. Analytics is the new alpha."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719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A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in 7 Days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0848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pipeline (data_ingestion.py, day2_cleaning.py)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DB — bluestock_mf.db (10 tables)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8529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notebooks — 9 analytical dimensions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32369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 — 9 indicators computed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36210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4 interactive pages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005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 — VaR, CVaR, Sharpe, Recommender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17190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A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60 / 90-Day Roadmap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2084832"/>
            <a:ext cx="4114800" cy="594360"/>
          </a:xfrm>
          <a:prstGeom prst="roundRect">
            <a:avLst>
              <a:gd name="adj" fmla="val 13846"/>
            </a:avLst>
          </a:prstGeom>
          <a:solidFill>
            <a:srgbClr val="1D3461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828032" y="2121408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06440" y="2148840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Productionize ETL with PostgreSQL · Scheduled refresh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2743200"/>
            <a:ext cx="4114800" cy="594360"/>
          </a:xfrm>
          <a:prstGeom prst="roundRect">
            <a:avLst>
              <a:gd name="adj" fmla="val 13846"/>
            </a:avLst>
          </a:prstGeom>
          <a:solidFill>
            <a:srgbClr val="1D3461"/>
          </a:solidFill>
          <a:ln w="12700">
            <a:solidFill>
              <a:srgbClr val="5B2D8E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828032" y="2779776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Days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06440" y="2807208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suitability filter live in Bluestock investor portal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3401568"/>
            <a:ext cx="4114800" cy="594360"/>
          </a:xfrm>
          <a:prstGeom prst="roundRect">
            <a:avLst>
              <a:gd name="adj" fmla="val 13846"/>
            </a:avLst>
          </a:prstGeom>
          <a:solidFill>
            <a:srgbClr val="1D3461"/>
          </a:solidFill>
          <a:ln w="12700">
            <a:solidFill>
              <a:srgbClr val="217A3C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28032" y="3438144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06440" y="3465576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nudge campaign based on cohort analysis deployed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4059936"/>
            <a:ext cx="4114800" cy="594360"/>
          </a:xfrm>
          <a:prstGeom prst="roundRect">
            <a:avLst>
              <a:gd name="adj" fmla="val 13846"/>
            </a:avLst>
          </a:prstGeom>
          <a:solidFill>
            <a:srgbClr val="1D3461"/>
          </a:solidFill>
          <a:ln w="12700">
            <a:solidFill>
              <a:srgbClr val="7B3F00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828032" y="4096512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806440" y="4123944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fund recommender with collaborative filtering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Sandesh · Capstone Project Submission · github.com/sandesh1234567890/mutual_fund_analytics · Bluestock Fintech ·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</dc:title>
  <dc:subject>PptxGenJS Presentation</dc:subject>
  <dc:creator>Ravi Kumar</dc:creator>
  <cp:lastModifiedBy>Ravi Kumar</cp:lastModifiedBy>
  <cp:revision>1</cp:revision>
  <dcterms:created xsi:type="dcterms:W3CDTF">2026-06-14T17:58:03Z</dcterms:created>
  <dcterms:modified xsi:type="dcterms:W3CDTF">2026-06-14T17:58:03Z</dcterms:modified>
</cp:coreProperties>
</file>